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abin" panose="020B0604020202020204" charset="0"/>
      <p:regular r:id="rId13"/>
    </p:embeddedFont>
    <p:embeddedFont>
      <p:font typeface="Cabin Bold" panose="020B0604020202020204" charset="0"/>
      <p:regular r:id="rId14"/>
    </p:embeddedFont>
    <p:embeddedFont>
      <p:font typeface="Unbounde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6876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30475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2" y="513953"/>
            <a:ext cx="4372461" cy="58300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69971" y="2101751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Smart Classroom Monitoring System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5269971" y="3574256"/>
            <a:ext cx="6223638" cy="1181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Automated Attendance, Environmental Monitoring, and Energy Optimization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 intelligent IoT-based solution for centralized classroom management</a:t>
            </a:r>
            <a:endParaRPr lang="en-US" sz="15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2F71B9-AD3B-16BF-7ADA-BFD3107157A0}"/>
              </a:ext>
            </a:extLst>
          </p:cNvPr>
          <p:cNvSpPr txBox="1"/>
          <p:nvPr/>
        </p:nvSpPr>
        <p:spPr>
          <a:xfrm>
            <a:off x="9436359" y="6183677"/>
            <a:ext cx="16376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>
                <a:solidFill>
                  <a:schemeClr val="bg1"/>
                </a:solidFill>
              </a:rPr>
              <a:t>ELURU SAI TEJA</a:t>
            </a:r>
            <a:br>
              <a:rPr lang="en-IN">
                <a:solidFill>
                  <a:schemeClr val="bg1"/>
                </a:solidFill>
              </a:rPr>
            </a:br>
            <a:r>
              <a:rPr lang="en-IN">
                <a:solidFill>
                  <a:schemeClr val="bg1"/>
                </a:solidFill>
              </a:rPr>
              <a:t>323129520053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30475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0" y="488950"/>
            <a:ext cx="4409965" cy="5880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69971" y="595313"/>
            <a:ext cx="6223638" cy="47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Problem Statement</a:t>
            </a:r>
            <a:endParaRPr lang="en-US" sz="3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69971" y="1269504"/>
            <a:ext cx="6223638" cy="11495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27239" y="1450578"/>
            <a:ext cx="5785301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Time-Consuming Attendance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5527239" y="1767880"/>
            <a:ext cx="5785301" cy="470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Traditional attendance methods are slow, error-prone, and consume valuable instructional time.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69971" y="2550716"/>
            <a:ext cx="6223638" cy="114954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527239" y="2731790"/>
            <a:ext cx="5785301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Manual Monitoring Burden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5527239" y="3049091"/>
            <a:ext cx="5785301" cy="470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Continuous human effort is required to observe and manage classroom environmental conditions.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69971" y="3831927"/>
            <a:ext cx="6223638" cy="11495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527239" y="4013002"/>
            <a:ext cx="5785301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Energy Wastage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5527239" y="4330303"/>
            <a:ext cx="5785301" cy="470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Unnecessary usage of lights and fans leads to significant and avoidable electricity consumption.</a:t>
            </a:r>
            <a:endParaRPr lang="en-US" sz="12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69971" y="5113139"/>
            <a:ext cx="6223638" cy="114954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527239" y="5294213"/>
            <a:ext cx="5785301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Lack of Intelligent Systems</a:t>
            </a:r>
            <a:endParaRPr lang="en-US" sz="1500" dirty="0"/>
          </a:p>
        </p:txBody>
      </p:sp>
      <p:sp>
        <p:nvSpPr>
          <p:cNvPr id="16" name="Text 9"/>
          <p:cNvSpPr/>
          <p:nvPr/>
        </p:nvSpPr>
        <p:spPr>
          <a:xfrm>
            <a:off x="5527239" y="5611515"/>
            <a:ext cx="5785301" cy="470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Institutions lack centralized, automated tools to monitor resources and improve utilization efficiently.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697831"/>
            <a:ext cx="3462152" cy="34622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53144" y="1629668"/>
            <a:ext cx="6846716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Proposed Solution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4653144" y="2415778"/>
            <a:ext cx="6846716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 </a:t>
            </a:r>
            <a:r>
              <a:rPr lang="en-US" sz="15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integrated IoT-based Smart Classroom Monitoring System</a:t>
            </a: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that unifies attendance, environment, and energy management into a single intelligent platform.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4653144" y="3552825"/>
            <a:ext cx="6846716" cy="1805186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Automate student attendance using </a:t>
            </a:r>
            <a:r>
              <a:rPr lang="en-US" sz="15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RFID or facial recognition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Monitor temperature, humidity, air quality, lighting, and classroom occupancy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Automatically control lights and fans based on occupancy and environmental conditions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Provide centralized monitoring through a </a:t>
            </a:r>
            <a:r>
              <a:rPr lang="en-US" sz="15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secure and user-friendly platform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86978"/>
            <a:ext cx="10795524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Key Objectives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1446212"/>
            <a:ext cx="361544" cy="3615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2012553"/>
            <a:ext cx="5295371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Automated Attendance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98086" y="2376686"/>
            <a:ext cx="5295371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Improve recording accuracy and eliminate manual roll calls.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8239" y="1446212"/>
            <a:ext cx="361544" cy="36155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8239" y="2012553"/>
            <a:ext cx="5295371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Real-Time Monitoring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6198239" y="2376686"/>
            <a:ext cx="5295371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Track environmental conditions continuously across all classrooms.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086" y="2979936"/>
            <a:ext cx="361544" cy="36155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8086" y="3546277"/>
            <a:ext cx="5295371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Occupancy Detection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698086" y="3910409"/>
            <a:ext cx="5295371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Detect and track the number of people present in each classroom.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8239" y="2979936"/>
            <a:ext cx="361544" cy="36155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98239" y="3546277"/>
            <a:ext cx="5295371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Energy Reduction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6198239" y="3910409"/>
            <a:ext cx="5295371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Reduce unnecessary electricity consumption through intelligent automation.</a:t>
            </a:r>
            <a:endParaRPr lang="en-US" sz="1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8086" y="4789289"/>
            <a:ext cx="361544" cy="36155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8086" y="5355630"/>
            <a:ext cx="5295371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Centralized Access</a:t>
            </a:r>
            <a:endParaRPr lang="en-US" sz="1650" dirty="0"/>
          </a:p>
        </p:txBody>
      </p:sp>
      <p:sp>
        <p:nvSpPr>
          <p:cNvPr id="17" name="Text 10"/>
          <p:cNvSpPr/>
          <p:nvPr/>
        </p:nvSpPr>
        <p:spPr>
          <a:xfrm>
            <a:off x="698086" y="5719762"/>
            <a:ext cx="5295371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Provide administrators unified access to all classroom information.</a:t>
            </a:r>
            <a:endParaRPr lang="en-US" sz="14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8239" y="4789289"/>
            <a:ext cx="361544" cy="36155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198239" y="5355630"/>
            <a:ext cx="5295371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Reports and Insights</a:t>
            </a:r>
            <a:endParaRPr lang="en-US" sz="1650" dirty="0"/>
          </a:p>
        </p:txBody>
      </p:sp>
      <p:sp>
        <p:nvSpPr>
          <p:cNvPr id="20" name="Text 12"/>
          <p:cNvSpPr/>
          <p:nvPr/>
        </p:nvSpPr>
        <p:spPr>
          <a:xfrm>
            <a:off x="6198239" y="5719762"/>
            <a:ext cx="5295371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Generate attendance and energy-consumption reports for data-driven decisions.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0763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System Components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974824"/>
            <a:ext cx="5276123" cy="52762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3836" y="2908498"/>
            <a:ext cx="5276123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Attendance Module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223836" y="3104952"/>
            <a:ext cx="5885707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RFID reader or facial recognition for automated student identification.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223836" y="3274417"/>
            <a:ext cx="5276123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Environmental Sensors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23836" y="3470870"/>
            <a:ext cx="5885707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Temperature, humidity, and air quality monitoring devices.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6223836" y="3640336"/>
            <a:ext cx="5276123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Occupancy Detection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23836" y="3836789"/>
            <a:ext cx="5885707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Sensors to detect presence and count of people in the classroom.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6223836" y="4006255"/>
            <a:ext cx="5276123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Cloud Platform &amp; Dashboard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223836" y="4202708"/>
            <a:ext cx="5885707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Cloud-based storage, processing, and a user-friendly admin interface for centralized management.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9077"/>
            <a:ext cx="10795524" cy="357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System Working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054695"/>
            <a:ext cx="10795524" cy="4858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24272" y="1310800"/>
            <a:ext cx="1889194" cy="27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Entry &amp; ID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2324272" y="1668439"/>
            <a:ext cx="1889194" cy="375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4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Students enter and are identified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192705" y="4817120"/>
            <a:ext cx="1899574" cy="54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Sensor Capture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192705" y="5449353"/>
            <a:ext cx="1899574" cy="375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4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Occupancy and environment recorded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040378" y="1137252"/>
            <a:ext cx="1889194" cy="549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IoT Transmission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040378" y="1769486"/>
            <a:ext cx="1889194" cy="375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4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Modules send data to the platform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908812" y="4817120"/>
            <a:ext cx="1889193" cy="54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Analysis &amp; Control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908812" y="5449353"/>
            <a:ext cx="1889193" cy="375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4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System analyzes and auto-controls devices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98086" y="5995988"/>
            <a:ext cx="10795524" cy="312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system operates as a seamless end-to-end pipeline — from student entry and identification through sensor data collection, intelligent analysis, automated device control, and finally centralized reporting for administrators.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0475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770" y="488950"/>
            <a:ext cx="4409965" cy="5880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819745"/>
            <a:ext cx="6223638" cy="47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Dashboard and Monitoring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98086" y="1493937"/>
            <a:ext cx="6223638" cy="882749"/>
          </a:xfrm>
          <a:prstGeom prst="roundRect">
            <a:avLst>
              <a:gd name="adj" fmla="val 2754"/>
            </a:avLst>
          </a:prstGeom>
          <a:solidFill>
            <a:srgbClr val="304755"/>
          </a:solidFill>
          <a:ln/>
        </p:spPr>
      </p:sp>
      <p:sp>
        <p:nvSpPr>
          <p:cNvPr id="6" name="Text 3"/>
          <p:cNvSpPr/>
          <p:nvPr/>
        </p:nvSpPr>
        <p:spPr>
          <a:xfrm>
            <a:off x="860106" y="1655961"/>
            <a:ext cx="5899598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📋</a:t>
            </a: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Attendance Records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0106" y="1979613"/>
            <a:ext cx="5899598" cy="23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Student attendance logs and comprehensive historical reports.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98086" y="2508349"/>
            <a:ext cx="6223638" cy="882749"/>
          </a:xfrm>
          <a:prstGeom prst="roundRect">
            <a:avLst>
              <a:gd name="adj" fmla="val 2754"/>
            </a:avLst>
          </a:prstGeom>
          <a:solidFill>
            <a:srgbClr val="304755"/>
          </a:solidFill>
          <a:ln/>
        </p:spPr>
      </p:sp>
      <p:sp>
        <p:nvSpPr>
          <p:cNvPr id="9" name="Text 6"/>
          <p:cNvSpPr/>
          <p:nvPr/>
        </p:nvSpPr>
        <p:spPr>
          <a:xfrm>
            <a:off x="860106" y="2670373"/>
            <a:ext cx="5899598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🌡️</a:t>
            </a: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Environmental Data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0106" y="2994025"/>
            <a:ext cx="5899598" cy="23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Real-time temperature, humidity, and air-quality information.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98086" y="3522762"/>
            <a:ext cx="6223638" cy="882749"/>
          </a:xfrm>
          <a:prstGeom prst="roundRect">
            <a:avLst>
              <a:gd name="adj" fmla="val 2754"/>
            </a:avLst>
          </a:prstGeom>
          <a:solidFill>
            <a:srgbClr val="304755"/>
          </a:solidFill>
          <a:ln/>
        </p:spPr>
      </p:sp>
      <p:sp>
        <p:nvSpPr>
          <p:cNvPr id="12" name="Text 9"/>
          <p:cNvSpPr/>
          <p:nvPr/>
        </p:nvSpPr>
        <p:spPr>
          <a:xfrm>
            <a:off x="860106" y="3684786"/>
            <a:ext cx="5899598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⚡</a:t>
            </a: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Energy Metrics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60106" y="4008438"/>
            <a:ext cx="5899598" cy="23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Energy consumption tracking, trends, and analysis.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98086" y="4537174"/>
            <a:ext cx="6223638" cy="882749"/>
          </a:xfrm>
          <a:prstGeom prst="roundRect">
            <a:avLst>
              <a:gd name="adj" fmla="val 2754"/>
            </a:avLst>
          </a:prstGeom>
          <a:solidFill>
            <a:srgbClr val="304755"/>
          </a:solidFill>
          <a:ln/>
        </p:spPr>
      </p:sp>
      <p:sp>
        <p:nvSpPr>
          <p:cNvPr id="15" name="Text 12"/>
          <p:cNvSpPr/>
          <p:nvPr/>
        </p:nvSpPr>
        <p:spPr>
          <a:xfrm>
            <a:off x="860106" y="4699198"/>
            <a:ext cx="5899598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🔔</a:t>
            </a: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Alert Notifications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60106" y="5022850"/>
            <a:ext cx="5899598" cy="23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Automated alerts for anomalies and critical classroom conditions.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98086" y="5568057"/>
            <a:ext cx="6223638" cy="470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Administrators leverage real-time information to improve classroom management, optimize resource utilization, and make confident data-driven decisions.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71649"/>
            <a:ext cx="6857332" cy="1099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Energy Optimization and Environmental Monitoring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98086" y="2246908"/>
            <a:ext cx="6857332" cy="579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system continuously analyzes occupancy and sensor data to drive intelligent, automatic control of classroom devices — eliminating waste and maintaining comfort.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98086" y="2984302"/>
            <a:ext cx="6857332" cy="1694359"/>
          </a:xfrm>
          <a:prstGeom prst="rect">
            <a:avLst/>
          </a:prstGeom>
          <a:noFill/>
          <a:ln/>
        </p:spPr>
        <p:txBody>
          <a:bodyPr wrap="square" lIns="0" tIns="74805" rIns="0" bIns="0" rtlCol="0" anchor="t">
            <a:normAutofit/>
          </a:bodyPr>
          <a:lstStyle/>
          <a:p>
            <a:pPr marL="294640" indent="-294640" algn="l">
              <a:lnSpc>
                <a:spcPct val="129000"/>
              </a:lnSpc>
              <a:buSzPct val="100000"/>
              <a:buChar char="•"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Prevent unnecessary operation of lights and fans using occupancy data</a:t>
            </a:r>
            <a:endParaRPr lang="en-US" sz="1450" dirty="0"/>
          </a:p>
          <a:p>
            <a:pPr marL="294640" indent="-294640" algn="l">
              <a:lnSpc>
                <a:spcPct val="129000"/>
              </a:lnSpc>
              <a:buSzPct val="100000"/>
              <a:buChar char="•"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Respond to ambient lighting conditions via light sensor readings</a:t>
            </a:r>
            <a:endParaRPr lang="en-US" sz="1450" dirty="0"/>
          </a:p>
          <a:p>
            <a:pPr marL="294640" indent="-294640" algn="l">
              <a:lnSpc>
                <a:spcPct val="129000"/>
              </a:lnSpc>
              <a:buSzPct val="100000"/>
              <a:buChar char="•"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Continuously monitor temperature and humidity for optimal comfort</a:t>
            </a:r>
            <a:endParaRPr lang="en-US" sz="1450" dirty="0"/>
          </a:p>
          <a:p>
            <a:pPr marL="294640" indent="-294640" algn="l">
              <a:lnSpc>
                <a:spcPct val="129000"/>
              </a:lnSpc>
              <a:buSzPct val="100000"/>
              <a:buChar char="•"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Enable automatic device control based on real-time conditions</a:t>
            </a:r>
            <a:endParaRPr lang="en-US" sz="1450" dirty="0"/>
          </a:p>
          <a:p>
            <a:pPr marL="294640" indent="-294640" algn="l">
              <a:lnSpc>
                <a:spcPct val="129000"/>
              </a:lnSpc>
              <a:buSzPct val="100000"/>
              <a:buChar char="•"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Support efficient and </a:t>
            </a:r>
            <a:r>
              <a:rPr lang="en-US" sz="14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sustainable classroom operations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98086" y="4875808"/>
            <a:ext cx="6857332" cy="988616"/>
          </a:xfrm>
          <a:prstGeom prst="roundRect">
            <a:avLst>
              <a:gd name="adj" fmla="val 2837"/>
            </a:avLst>
          </a:prstGeom>
          <a:solidFill>
            <a:srgbClr val="183A1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009" y="5143798"/>
            <a:ext cx="233754" cy="18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05686" y="5080298"/>
            <a:ext cx="6062808" cy="579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Intelligent automation maintains a more comfortable and productive learning environment while significantly reducing electricity wastage.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7964" y="1687909"/>
            <a:ext cx="3481896" cy="348198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06227"/>
            <a:ext cx="10795524" cy="55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Benefits, Security, and Scalability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1527770"/>
            <a:ext cx="5307177" cy="227141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9051" y="1695648"/>
            <a:ext cx="285148" cy="28515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3583" y="2304653"/>
            <a:ext cx="4876182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Operational Benefits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913583" y="2692797"/>
            <a:ext cx="4876182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Accurate automated attendance, reduced manual effort, real-time monitoring, and an improved learning environment.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6432" y="1527770"/>
            <a:ext cx="5307177" cy="2271415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97397" y="1695648"/>
            <a:ext cx="285148" cy="28515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401930" y="2304653"/>
            <a:ext cx="4876182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Energy Efficiency</a:t>
            </a:r>
            <a:endParaRPr lang="en-US" sz="1750" dirty="0"/>
          </a:p>
        </p:txBody>
      </p:sp>
      <p:sp>
        <p:nvSpPr>
          <p:cNvPr id="10" name="Text 4"/>
          <p:cNvSpPr/>
          <p:nvPr/>
        </p:nvSpPr>
        <p:spPr>
          <a:xfrm>
            <a:off x="6401930" y="2692797"/>
            <a:ext cx="4876182" cy="593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Lower electricity consumption, better resource utilization, and sustainable day-to-day operations.</a:t>
            </a:r>
            <a:endParaRPr lang="en-US" sz="14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3980359"/>
            <a:ext cx="5307177" cy="2271415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09051" y="4148237"/>
            <a:ext cx="285148" cy="285155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913583" y="4757241"/>
            <a:ext cx="4876182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Security</a:t>
            </a:r>
            <a:endParaRPr lang="en-US" sz="1750" dirty="0"/>
          </a:p>
        </p:txBody>
      </p:sp>
      <p:sp>
        <p:nvSpPr>
          <p:cNvPr id="14" name="Text 6"/>
          <p:cNvSpPr/>
          <p:nvPr/>
        </p:nvSpPr>
        <p:spPr>
          <a:xfrm>
            <a:off x="913583" y="5145385"/>
            <a:ext cx="4876182" cy="593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Secure monitoring platform with controlled access and robust data protection measures.</a:t>
            </a:r>
            <a:endParaRPr lang="en-US" sz="145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6432" y="3980359"/>
            <a:ext cx="5307177" cy="2271415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97397" y="4148237"/>
            <a:ext cx="285148" cy="285155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6401930" y="4757241"/>
            <a:ext cx="4876182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Scalability</a:t>
            </a:r>
            <a:endParaRPr lang="en-US" sz="1750" dirty="0"/>
          </a:p>
        </p:txBody>
      </p:sp>
      <p:sp>
        <p:nvSpPr>
          <p:cNvPr id="18" name="Text 8"/>
          <p:cNvSpPr/>
          <p:nvPr/>
        </p:nvSpPr>
        <p:spPr>
          <a:xfrm>
            <a:off x="6401930" y="5145385"/>
            <a:ext cx="4876182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Suitable for multiple classrooms across schools, colleges, universities, training centers, and entire smart educational campuses.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30475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99" y="499368"/>
            <a:ext cx="4394189" cy="5859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69971" y="645815"/>
            <a:ext cx="6223638" cy="1044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Conclusion and Future Impact</a:t>
            </a:r>
            <a:endParaRPr lang="en-US" sz="3250" dirty="0"/>
          </a:p>
        </p:txBody>
      </p:sp>
      <p:sp>
        <p:nvSpPr>
          <p:cNvPr id="5" name="Text 2"/>
          <p:cNvSpPr/>
          <p:nvPr/>
        </p:nvSpPr>
        <p:spPr>
          <a:xfrm>
            <a:off x="5269971" y="1928118"/>
            <a:ext cx="6223638" cy="806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</a:t>
            </a:r>
            <a:r>
              <a:rPr lang="en-US" sz="13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Smart Classroom Monitoring System</a:t>
            </a: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is a modern IoT-based solution that integrates automated attendance, environmental monitoring, and energy optimization into a unified, intelligent platform.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269971" y="2912170"/>
            <a:ext cx="6223638" cy="2228652"/>
          </a:xfrm>
          <a:prstGeom prst="roundRect">
            <a:avLst>
              <a:gd name="adj" fmla="val 1196"/>
            </a:avLst>
          </a:prstGeom>
          <a:solidFill>
            <a:srgbClr val="304755"/>
          </a:solidFill>
          <a:ln/>
        </p:spPr>
      </p:sp>
      <p:sp>
        <p:nvSpPr>
          <p:cNvPr id="7" name="Shape 4"/>
          <p:cNvSpPr/>
          <p:nvPr/>
        </p:nvSpPr>
        <p:spPr>
          <a:xfrm>
            <a:off x="5269971" y="2912170"/>
            <a:ext cx="3111819" cy="1248668"/>
          </a:xfrm>
          <a:custGeom>
            <a:avLst/>
            <a:gdLst/>
            <a:ahLst/>
            <a:cxnLst/>
            <a:rect l="l" t="t" r="r" b="b"/>
            <a:pathLst>
              <a:path w="3111819" h="1248668">
                <a:moveTo>
                  <a:pt x="22208" y="0"/>
                </a:moveTo>
                <a:lnTo>
                  <a:pt x="3111819" y="0"/>
                </a:lnTo>
                <a:lnTo>
                  <a:pt x="3111819" y="1248668"/>
                </a:lnTo>
                <a:lnTo>
                  <a:pt x="0" y="1248668"/>
                </a:lnTo>
                <a:lnTo>
                  <a:pt x="0" y="22208"/>
                </a:lnTo>
                <a:arcTo wR="22208" hR="22208" stAng="10800000" swAng="5400000"/>
                <a:close/>
              </a:path>
            </a:pathLst>
          </a:custGeom>
          <a:solidFill>
            <a:srgbClr val="304755"/>
          </a:solidFill>
          <a:ln/>
        </p:spPr>
      </p:sp>
      <p:sp>
        <p:nvSpPr>
          <p:cNvPr id="8" name="Text 5"/>
          <p:cNvSpPr/>
          <p:nvPr/>
        </p:nvSpPr>
        <p:spPr>
          <a:xfrm>
            <a:off x="5447568" y="3089771"/>
            <a:ext cx="2756625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Efficiency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47568" y="3445867"/>
            <a:ext cx="2756625" cy="537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Improves classroom operations and reduces energy consumption.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381790" y="2912170"/>
            <a:ext cx="3111819" cy="1248668"/>
          </a:xfrm>
          <a:custGeom>
            <a:avLst/>
            <a:gdLst/>
            <a:ahLst/>
            <a:cxnLst/>
            <a:rect l="l" t="t" r="r" b="b"/>
            <a:pathLst>
              <a:path w="3111819" h="1248668">
                <a:moveTo>
                  <a:pt x="0" y="0"/>
                </a:moveTo>
                <a:lnTo>
                  <a:pt x="3089611" y="0"/>
                </a:lnTo>
                <a:arcTo wR="22208" hR="22208" stAng="16200000" swAng="5400000"/>
                <a:lnTo>
                  <a:pt x="3111819" y="1248668"/>
                </a:lnTo>
                <a:lnTo>
                  <a:pt x="0" y="1248668"/>
                </a:lnTo>
                <a:lnTo>
                  <a:pt x="0" y="0"/>
                </a:lnTo>
                <a:close/>
              </a:path>
            </a:pathLst>
          </a:custGeom>
          <a:solidFill>
            <a:srgbClr val="304755"/>
          </a:solidFill>
          <a:ln/>
        </p:spPr>
      </p:sp>
      <p:sp>
        <p:nvSpPr>
          <p:cNvPr id="11" name="Shape 8"/>
          <p:cNvSpPr/>
          <p:nvPr/>
        </p:nvSpPr>
        <p:spPr>
          <a:xfrm>
            <a:off x="8381790" y="2912170"/>
            <a:ext cx="19050" cy="1248668"/>
          </a:xfrm>
          <a:prstGeom prst="roundRect">
            <a:avLst>
              <a:gd name="adj" fmla="val 49999"/>
            </a:avLst>
          </a:prstGeom>
          <a:solidFill>
            <a:srgbClr val="49606E"/>
          </a:solidFill>
          <a:ln/>
        </p:spPr>
      </p:sp>
      <p:sp>
        <p:nvSpPr>
          <p:cNvPr id="12" name="Text 9"/>
          <p:cNvSpPr/>
          <p:nvPr/>
        </p:nvSpPr>
        <p:spPr>
          <a:xfrm>
            <a:off x="8559387" y="3089771"/>
            <a:ext cx="2756625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Intelligence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559387" y="3445867"/>
            <a:ext cx="2756625" cy="537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Enables better decision-making through real-time data and analytics.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269971" y="4160838"/>
            <a:ext cx="6223638" cy="979984"/>
          </a:xfrm>
          <a:custGeom>
            <a:avLst/>
            <a:gdLst/>
            <a:ahLst/>
            <a:cxnLst/>
            <a:rect l="l" t="t" r="r" b="b"/>
            <a:pathLst>
              <a:path w="6223638" h="979984">
                <a:moveTo>
                  <a:pt x="0" y="0"/>
                </a:moveTo>
                <a:lnTo>
                  <a:pt x="6223638" y="0"/>
                </a:lnTo>
                <a:lnTo>
                  <a:pt x="6223638" y="957775"/>
                </a:lnTo>
                <a:arcTo wR="22208" hR="22208" stAng="0" swAng="5400000"/>
                <a:lnTo>
                  <a:pt x="22208" y="979984"/>
                </a:lnTo>
                <a:arcTo wR="22208" hR="22208" stAng="5400000" swAng="5400000"/>
                <a:lnTo>
                  <a:pt x="0" y="0"/>
                </a:lnTo>
                <a:close/>
              </a:path>
            </a:pathLst>
          </a:custGeom>
          <a:solidFill>
            <a:srgbClr val="304755"/>
          </a:solidFill>
          <a:ln/>
        </p:spPr>
      </p:sp>
      <p:sp>
        <p:nvSpPr>
          <p:cNvPr id="15" name="Shape 12"/>
          <p:cNvSpPr/>
          <p:nvPr/>
        </p:nvSpPr>
        <p:spPr>
          <a:xfrm>
            <a:off x="5269971" y="4160838"/>
            <a:ext cx="6223638" cy="19050"/>
          </a:xfrm>
          <a:prstGeom prst="roundRect">
            <a:avLst>
              <a:gd name="adj" fmla="val 49999"/>
            </a:avLst>
          </a:prstGeom>
          <a:solidFill>
            <a:srgbClr val="49606E"/>
          </a:solidFill>
          <a:ln/>
        </p:spPr>
      </p:sp>
      <p:sp>
        <p:nvSpPr>
          <p:cNvPr id="16" name="Text 13"/>
          <p:cNvSpPr/>
          <p:nvPr/>
        </p:nvSpPr>
        <p:spPr>
          <a:xfrm>
            <a:off x="5447568" y="4338439"/>
            <a:ext cx="5868444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Transformation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447568" y="4694535"/>
            <a:ext cx="5868444" cy="268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Contributes to smart education and digital transformation in institutions.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5536367" y="5496818"/>
            <a:ext cx="5957242" cy="537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Vision:</a:t>
            </a: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Creating intelligent, efficient, secure, and sustainable educational campuses for the future.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269971" y="5318820"/>
            <a:ext cx="19050" cy="893366"/>
          </a:xfrm>
          <a:prstGeom prst="roundRect">
            <a:avLst>
              <a:gd name="adj" fmla="val 49999"/>
            </a:avLst>
          </a:prstGeom>
          <a:solidFill>
            <a:srgbClr val="0A988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670</Words>
  <Application>Microsoft Office PowerPoint</Application>
  <PresentationFormat>Widescreen</PresentationFormat>
  <Paragraphs>97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Cabin Bold</vt:lpstr>
      <vt:lpstr>Cabin</vt:lpstr>
      <vt:lpstr>Unbounded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LOKESH VARMA</dc:creator>
  <cp:lastModifiedBy>LOKESH VARMA</cp:lastModifiedBy>
  <cp:revision>5</cp:revision>
  <dcterms:created xsi:type="dcterms:W3CDTF">2026-08-20T04:24:45Z</dcterms:created>
  <dcterms:modified xsi:type="dcterms:W3CDTF">2026-10-02T17:11:59Z</dcterms:modified>
</cp:coreProperties>
</file>